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78" r:id="rId38"/>
    <p:sldId id="295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62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eplearning.ai/short-courses/chatgpt-prompt-engineering-for-developers/" TargetMode="External"/><Relationship Id="rId3" Type="http://schemas.openxmlformats.org/officeDocument/2006/relationships/hyperlink" Target="https://education.github.com/pack" TargetMode="External"/><Relationship Id="rId7" Type="http://schemas.openxmlformats.org/officeDocument/2006/relationships/hyperlink" Target="https://docs.github.com/en/copilot/quickstart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aude.ai/" TargetMode="External"/><Relationship Id="rId5" Type="http://schemas.openxmlformats.org/officeDocument/2006/relationships/hyperlink" Target="https://www.cursor.com/students" TargetMode="External"/><Relationship Id="rId10" Type="http://schemas.openxmlformats.org/officeDocument/2006/relationships/hyperlink" Target="https://docs.cursor.com/" TargetMode="External"/><Relationship Id="rId4" Type="http://schemas.openxmlformats.org/officeDocument/2006/relationships/hyperlink" Target="https://marketplace.visualstudio.com/items?itemName=GitHub.copilot" TargetMode="External"/><Relationship Id="rId9" Type="http://schemas.openxmlformats.org/officeDocument/2006/relationships/hyperlink" Target="https://www.freecodecamp.org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uiltinseattle.com/jobs/ai" TargetMode="External"/><Relationship Id="rId13" Type="http://schemas.openxmlformats.org/officeDocument/2006/relationships/hyperlink" Target="https://chat.openai.com/" TargetMode="External"/><Relationship Id="rId18" Type="http://schemas.openxmlformats.org/officeDocument/2006/relationships/hyperlink" Target="https://docs.cursor.com/" TargetMode="External"/><Relationship Id="rId3" Type="http://schemas.openxmlformats.org/officeDocument/2006/relationships/hyperlink" Target="https://github.blog/news-insights/octoverse/octoverse-2024/" TargetMode="External"/><Relationship Id="rId7" Type="http://schemas.openxmlformats.org/officeDocument/2006/relationships/hyperlink" Target="https://www.builtinnyc.com/jobs/ai" TargetMode="External"/><Relationship Id="rId12" Type="http://schemas.openxmlformats.org/officeDocument/2006/relationships/hyperlink" Target="https://claude.ai/" TargetMode="External"/><Relationship Id="rId17" Type="http://schemas.openxmlformats.org/officeDocument/2006/relationships/hyperlink" Target="https://www.deeplearning.ai/short-courses/chatgpt-prompt-engineering-for-developers/" TargetMode="External"/><Relationship Id="rId2" Type="http://schemas.openxmlformats.org/officeDocument/2006/relationships/notesSlide" Target="../notesSlides/notesSlide38.xml"/><Relationship Id="rId16" Type="http://schemas.openxmlformats.org/officeDocument/2006/relationships/hyperlink" Target="https://docs.github.com/en/copilot/quickstar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ziprecruiter.com/Salaries/AI-Developer-Salary" TargetMode="External"/><Relationship Id="rId11" Type="http://schemas.openxmlformats.org/officeDocument/2006/relationships/hyperlink" Target="https://www.cursor.com/students" TargetMode="External"/><Relationship Id="rId5" Type="http://schemas.openxmlformats.org/officeDocument/2006/relationships/hyperlink" Target="https://www.glassdoor.com/Salaries/ai-engineer-salary-SRCH_KO0,11.htm" TargetMode="External"/><Relationship Id="rId15" Type="http://schemas.openxmlformats.org/officeDocument/2006/relationships/hyperlink" Target="https://aws.amazon.com/q/developer/" TargetMode="External"/><Relationship Id="rId10" Type="http://schemas.openxmlformats.org/officeDocument/2006/relationships/hyperlink" Target="https://education.github.com/pack" TargetMode="External"/><Relationship Id="rId19" Type="http://schemas.openxmlformats.org/officeDocument/2006/relationships/hyperlink" Target="https://www.freecodecamp.org/" TargetMode="External"/><Relationship Id="rId4" Type="http://schemas.openxmlformats.org/officeDocument/2006/relationships/hyperlink" Target="https://survey.stackoverflow.co/2024/" TargetMode="External"/><Relationship Id="rId9" Type="http://schemas.openxmlformats.org/officeDocument/2006/relationships/hyperlink" Target="https://wellfound.com/role/ai-engineer" TargetMode="External"/><Relationship Id="rId14" Type="http://schemas.openxmlformats.org/officeDocument/2006/relationships/hyperlink" Target="https://windsurf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ITWS 1100  —  Intro to Information Technology &amp; Web Science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Coding</a:t>
            </a:r>
            <a:endParaRPr lang="en-US" sz="4200" dirty="0"/>
          </a:p>
          <a:p>
            <a:pPr marL="0" indent="0">
              <a:buNone/>
            </a:pPr>
            <a:r>
              <a:rPr lang="en-US" sz="36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Web Development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Generative &amp; Agentic AI — and why it matters for your career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237744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3931920"/>
            <a:ext cx="219456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0233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3977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52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1188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 and where we are today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810512"/>
            <a:ext cx="50292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87452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18105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vs Agentic AI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types — what they are, how they differ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2432304"/>
            <a:ext cx="502920" cy="50292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49631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65960" y="243230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Your Personal Website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both AI types tackle Lab 3 live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31520" y="3054096"/>
            <a:ext cx="5029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11810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65960" y="305409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method and real examples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31520" y="3675888"/>
            <a:ext cx="502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739896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65960" y="36758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Strategy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skills make you more valuable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361688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96596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Best Practices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use in school and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Foundations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 to today's coding companions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Evolution of AI: A Brief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1097280"/>
            <a:ext cx="27432" cy="35661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44168" y="120700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proposed, "Artificial Intelligence" coined at Dartmouth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44168" y="1920240"/>
            <a:ext cx="256032" cy="256032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1970s–90s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81051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than expected. Expert systems, basic pattern recognition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44168" y="2633472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25694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2000s–10s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52374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+ GPUs enable learning from massive datasets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44168" y="334670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" y="32826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23697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GPT-3, GitHub Copilot, ChatGPT goes viral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44168" y="405993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" y="3995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95020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Goes Agentic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Code, Devin — AI that acts, not just answers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 in 2025: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developers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Copilot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Copilot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 hrs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dev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AI Coding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1554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GPT-4o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096512"/>
            <a:ext cx="10058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3520440"/>
            <a:ext cx="1554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4096512"/>
            <a:ext cx="100584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+ Agentic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3520440"/>
            <a:ext cx="1554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4096512"/>
            <a:ext cx="100584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0624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+ Agentic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3520440"/>
            <a:ext cx="1554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4096512"/>
            <a:ext cx="100584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06640" y="3520440"/>
            <a:ext cx="1554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9808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4096512"/>
            <a:ext cx="100584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80960" y="4096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vs Agentic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distinction you need to understand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AI — One Goal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help you code. They work very differently.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1581912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7335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a question, it gives an answer.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6974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a really smart tutor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prompt  →  AI responds with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copy/paste into your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test, then come back for more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ChatGPT, Claude chat, Gemini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956048" y="1581912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733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0292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a goal, it takes action.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0" y="26974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a junior developer on your team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built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your files, writes code, runs 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tests, fixes errors, iterates on its own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Cursor, Claude Code, GitHub Copilot Agent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Restaurant Analogy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Cookbook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for a recipe (prompt)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step-by-step instructions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do all the cooking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if it tastes right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 back for another recipe if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Personal Chef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"make me dinner" (goal)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your fridge (reads your code)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cooks the meal (writes &amp; runs code)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tastes and adjusts (tests &amp; fixes)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decide the menu (architecture)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vs Agentic: Key Differences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4572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051560"/>
            <a:ext cx="29718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1051560"/>
            <a:ext cx="29718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0" y="1051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2860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interact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508760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1508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back and forth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50876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goal, let it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75688"/>
            <a:ext cx="22860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0756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2075688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207568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text/code snippets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2075688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2075688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files, writes code, runs commands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42616"/>
            <a:ext cx="22860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6426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2642616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80360" y="264261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knows what you paste 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0" y="2642616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2642616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your whole project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09544"/>
            <a:ext cx="22860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2095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0" y="3209544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80360" y="320954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manually copy, test, return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3209544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0" y="3209544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on its own until done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776472"/>
            <a:ext cx="22860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776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0" y="3776472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0360" y="377647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debug the output yourself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15000" y="3776472"/>
            <a:ext cx="29718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60" y="3776472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tries to fix its own errors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343400"/>
            <a:ext cx="22860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4343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0" y="4343400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80360" y="434340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explanations, snippets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15000" y="4343400"/>
            <a:ext cx="2971800" cy="56692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52160" y="434340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features, refactoring, scaffolding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AI: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6128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prompt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nav bar with flexbox, dark blue bg, white links"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response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HTML + CSS code in the chat window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 the code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your index.html and style.css files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35584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it in the browser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Live Server, see if it looks right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08736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AI with follow-ups: "now make it responsive"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4864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YOU are the pilot. Generative AI is the co-pilot handing you directions.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AI: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6128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a goal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responsive portfolio site with nav, hero, projects, and contact sections"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your project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existing files, understands structure, checks dependencies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code directly into your files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Creates/edits index.html, style.css — no copy-paste needed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35584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and tests the code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browser preview, checks for errors, fixes them automatically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08736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iterates until done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5-15 changes in a loop, delivers a working result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3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4864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YOU are the architect. Agentic AI is the builder following your blueprints.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 Demo: Both AIs in 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personal website with Generative and Agentic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3: Your Personal Website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 (quick recap):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63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HTML site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projects.html, individual lab pages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06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14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layout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navigation, content area, footer on every page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347472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66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 stylesheet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with no inline styles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54880" y="13716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544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463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use of &lt;header&gt;, &lt;nav&gt;, &lt;main&gt;, &lt;section&gt;, &lt;footer&gt;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754880" y="24231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6060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2514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 and mobile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347472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65760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3566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on GitHub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your Azure server, committed to a lab03 branch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457200" y="457200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73152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how both types of AI would approach this exact same assignment.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Approach to Lab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ChatGPT or Claude chat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772400" cy="53035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the HTML structure for a personal portfolio with a header, nav with links to About, Projects, Contact, a hero section, and a footer."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673352"/>
            <a:ext cx="75895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1719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~40 lines of HTML. You copy it into index.html.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7772400" cy="53035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408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4086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write CSS for this. Dark nav bar, gradient hero, clean typography. Use flexbox."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2916936"/>
            <a:ext cx="75895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2962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962656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~60 lines of CSS. You paste into style.css, preview, adjust.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7772400" cy="53035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584448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nav doesn't look right on mobile. Make it responsive with a hamburger menu."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4160520"/>
            <a:ext cx="75895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420624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updated CSS + some JavaScript. You integrate piece by piece.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~6 prompts over 30 min. You built it piece by piece, learning along the way.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Approach to Lab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Cursor or Claude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prompt: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personal portfolio website. I need index.html, projects.html, and style.css. Include a nav bar, hero section with my name, an about section, a projects grid, and a contact form. Make it responsive. Use semantic HTML, dark nav, gradient hero, clean modern design."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Agentic AI does next (autonomously):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index.html with full semantic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44368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style.css with responsive layout, dark nav, gradient hero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36976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31912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projects.html with consistent nav and grid layout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529584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34838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local preview and checks for visual issues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822192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3776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 CSS alignment bug it noticed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114800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mobile hamburger menu, tests at 375px width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07408"/>
            <a:ext cx="164592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4440" y="4361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all files — ready to commit to 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 prompt, ~3 minutes. Full working site. But did you learn the HTML/CSS?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Why Not Just Use Agentic AI for Everything?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let Agentic AI build everything without understanding the code, you become </a:t>
            </a: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passenger, not a driver.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8346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429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debug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don't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code breaks (it will), you need to know how to fix it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7560" y="265176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8346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429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direct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can't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044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AI's code good? Secure? Accessible? You need to know.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2651760"/>
            <a:ext cx="265176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8346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3429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grow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skip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0080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your skills — but you have to have skills first.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Smart Strategy: Use Both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Lab 3b and your projects — here's how the pros do it: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438912" cy="43891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4081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23160" y="1399032"/>
            <a:ext cx="96012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423160" y="139903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66160" y="128016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ChatGPT/Claude chat to understand HTML semantics, CSS flexbox, responsive design. Ask "why" questions.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947672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0208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89280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423160" y="2011680"/>
            <a:ext cx="960120" cy="2743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423160" y="2011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566160" y="189280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your site layout. Decide on pages, navigation, sections. Write a brief for the AI.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560320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6334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505456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423160" y="2624328"/>
            <a:ext cx="96012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423160" y="26243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566160" y="2505456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Cursor or Copilot to scaffold the site structure. Let it generate the boilerplate.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172968"/>
            <a:ext cx="438912" cy="43891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2461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11810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23160" y="3236976"/>
            <a:ext cx="96012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423160" y="32369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566160" y="3118104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generated code into ChatGPT. Ask: "Explain every line of this CSS."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3785616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85876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373075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2423160" y="3849624"/>
            <a:ext cx="96012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423160" y="384962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566160" y="373075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 mode for polish: "Make the projects grid 3 columns on desktop, 1 on mobile."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57200" y="4398264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4471416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51560" y="434340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2423160" y="4462272"/>
            <a:ext cx="96012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2423160" y="44622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566160" y="434340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different screen sizes. Check accessibility. Make sure you can explain every part.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input = good output. This is true for both types of AI.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CLEAR Method for Prompting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clear, simple language. Don't ramble.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in a coherent, step-by-step order.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Give examples of what you want.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result is wrong, rephrase or break it up.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output critically. Learn from it. Correct it.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vs Good Prompts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1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Prompts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my website look good"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know what "good" means to you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button"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kind? What style? For what purpose?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1455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me a complete e-commerce site with everything"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465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for one prompt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8953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it responsive"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215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how? What breakpoints?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Prompts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3776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CSS-styled contact form for my personal portfolio. Fields for name, email, message. Blue/white scheme, hover effects on submit."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2651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 my header with a 'minimalist portfolio' vibe — clean, white space, Poppins font. Make it responsive for mobile."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3657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nav menu works on desktop but breaks on mobile. Here's my CSS: [code]. Make a hamburger menu for &lt; 768px."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"Vibe Coding" — What It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feel you want rather than the technical specs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navigation bar with flexbox, 20px padding, dark blue background (#2c3e50), white links, hover effects with 0.3s transition"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sleek, modern nav that feels like a tech startup website — clean, professional, smooth interactions"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vibe coding works: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8561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been trained on millions of websites and knows design patterns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2452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4187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especially well with Agentic AI that can iterate on the visual result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634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6268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beginners get professional results while still learning the fundamentals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Coding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Start Small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components piece by piece. Nav → Hero → About → Projects → Contact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Iterate &amp; Refine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basic nav" → "Make it responsive" → "Add hamburger menu" → "Smooth the animation"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Ask for Explanations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015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how this flexbox code works." "Why grid instead of flexbox here?"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Debug Together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3616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grid breaks on mobile. Here's my code: [paste]. Items stack weirdly below 600px."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Strategy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skills make you dramatically more valuable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Market Reality: What's Changing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74904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at Risk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3794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QA testers (AI automates testing)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9514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entry programmers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template developers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954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documentation writers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6744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devs who only know HTML/CSS basics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23944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058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API developers (CRUD only)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097280"/>
            <a:ext cx="3931920" cy="374904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That Are Growing</a:t>
            </a:r>
            <a:endParaRPr lang="en-US" sz="1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37944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035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full-stack developers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95144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engineers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52344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035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interaction designers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9544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035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architects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66744"/>
            <a:ext cx="228600" cy="2286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0352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engineers</a:t>
            </a:r>
            <a:endParaRPr lang="en-US" sz="11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23944"/>
            <a:ext cx="228600" cy="2286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035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Product-focused developers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That Matter in an AI World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Skills (Value Increasing)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340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095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mastery (both types!)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85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and quality assurance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Skills (Now Critical)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decomposition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258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7340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and evaluation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2095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mindset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685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problem solving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"how." You focus on the "what" and "why."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Differentiate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Both AI Types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Generative AI (ChatGPT, Claude) for understanding AND Agentic AI (Cursor, Copilot, Claude Code) for building. Most people only know 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on What AI Can't 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business context, making architectural decisions, ensuring accessibility, debugging complex integration issues.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AI-Enhanced Projects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"I built a website." Say "I designed and architected a web application, using AI to accelerate development while ensuring quality."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 Prompt Engineering Skills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your resume: "Expert in AI-assisted development workflows" and "Skilled in evaluating AI-generated code."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Jobs, Right Now: AI Developer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salary ranges from job boards — February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York City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840480" cy="4572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AI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7556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$74K – $98K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$98K/yr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58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AI Engineer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2585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$73K – $128K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earn $128K+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840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7614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Full-Stack 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7614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 – $140K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971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category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264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Specialist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264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 – $120K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 — companies adopting 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3840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767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AI Engineer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767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 – $175K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yrs experience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270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2702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 – $313K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480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you're heading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1155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Seattle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846320" y="1737360"/>
            <a:ext cx="3840480" cy="457200"/>
          </a:xfrm>
          <a:prstGeom prst="rect">
            <a:avLst/>
          </a:prstGeom>
          <a:solidFill>
            <a:srgbClr val="F3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173736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AI Engineer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17556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$78K – $116K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19659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$79K/yr in WA state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24028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2258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ML Engineer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95160" y="22585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$121K – $151K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specialists earn more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743200"/>
            <a:ext cx="3840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83480" y="27614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Developer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27614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– $145K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83480" y="2971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at Amazon, Microsoft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24612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83480" y="32644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 Engineer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326440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$130K – $180K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83480" y="34747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new specialty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3749040"/>
            <a:ext cx="3840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83480" y="3767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AI/ML Engineer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95160" y="3767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– $200K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83480" y="3977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yrs experience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4251960"/>
            <a:ext cx="384048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83480" y="4270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ML Engineer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95160" y="427024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$292K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83480" y="4480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ladder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0080" y="46634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Glassdoor, ZipRecruiter, Built In NYC/Seattle, Wellfound  —  7,200+ AI jobs in NYC  |  2,800+ in Seattle right now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&amp; Best Practices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 in school and in your career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Integrity in the AI 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36576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Acceptable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for learning and explanation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debugging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boilerplate/starter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"why does this work?"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365760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Disclosure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AI-generated code portions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algorithms or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creative work by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Agentic AI to build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Acceptable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AI complete entire assignments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 code you don't understand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bypass learning objectives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disclosing significant AI 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Rule: "Would I be comfortable if this AI usage were public knowledge?"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3152" cy="17373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Copy-Paste Without Understanding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works now, breaks later when you modify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AI to explain complex parts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73152" cy="1737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Testing AI 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isn't always correct or cross-browser compatible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different browsers and screen sizes. Use dev tools.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73152" cy="1737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Over-Relying on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learning and become dependent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70% understanding, 30% AI assistance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73152" cy="1737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Skipping Fundamentals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knowledge — but you need knowledge to amplify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069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HTML/CSS basics before using AI to build with them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Students (Now)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fundamentals first — AI enhances knowledge, not replaces 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— discuss AI use with professors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understanding — don't just use code, learn from 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both ways — code without AI sometimes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for learning, Agentic AI for efficiency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Future Professionals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multiple AI tools — Generative AND Agentic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377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high-level skills — architecture, UX, security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ethical — be transparent, maintain standards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— AI tools evolve rapidly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3776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value creation — solve bigger problems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your tutor — it explains, suggests, and teaches. Use it to learn.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your builder — it reads your project and takes action. Use it to accelerate.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5029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both. Understanding code + AI efficiency = unstoppable combination.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matter for both types. The CLEAR method works everywhere.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career accelerator, not a replacement. Focus on what makes you uniquely valuable.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and ethical. The "Golden Rule" protects your reputation.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just learning to code — you're learning to be the developers that companies desperately need.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Thursday Lab Day: Hands-On AI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apply everything we just covered — to your own Lab 3 website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Prepared With: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3 site working in VS Code or Cursor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activated (Student Developer Pack)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237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or Claude open in a browser tab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3 things you want to improve on your 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or Cursor installed (optional but recommended)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9319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in Lab: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to learn a new CSS technique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762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Agentic AI to scaffold a new section/page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2374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approaches side by side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712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each iteration (at least 5 commits)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reflection document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11430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950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Lab 3b — Enhance Your Personal Website with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279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lab3b branch  |  5 iterations with commits  |  Use both Generative AND Agentic AI  |  2-page reflection comparing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End of Day, Oct 6th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AI Dev Tools for Students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for Thursday's lab — all free with your student email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18872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+ Agentic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1691640"/>
            <a:ext cx="11887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 — FREE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Pro free with Student Developer Pack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VS Code, JetBrains, Neovim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completions + chat + agent mode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55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certification exam voucher included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education.github.com/pack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7560" y="1691640"/>
            <a:ext cx="1188720" cy="228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1691640"/>
            <a:ext cx="11887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Pro — FREE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of Pro free for students ($240 value)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487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fork rebuilt around AI agents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8712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whole project, writes code directly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255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.edu email or enrollment proof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cursor.com/students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3640" y="1691640"/>
            <a:ext cx="1188720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43800" y="1691640"/>
            <a:ext cx="1188720" cy="228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4380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email signup at claude.ai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4871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code explanations and learning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8712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+ Haiku 4.5 models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255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~10-25 messages per 5-hour window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Free: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88720" y="4407408"/>
            <a:ext cx="18745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80160" y="4434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at chat.openai.com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54680" y="4407408"/>
            <a:ext cx="18745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46120" y="4434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IDE — windsurf.com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20640" y="4407408"/>
            <a:ext cx="18745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12080" y="4434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 Developer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individuals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86600" y="4407408"/>
            <a:ext cx="18745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78040" y="44348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code assist tier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Started: Tutorials &amp; Setup Guides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these — you'll need them Thursday and beyond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Guides (Do Before Thursday):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Student Developer Pack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356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education.github.com/pack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your .edu email — unlocks Copilot Pro + many more tools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Copilot in VS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VS Code Extensions 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search "GitHub Copilot"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search "GitHub Copilot" in VS Code Extensions, sign in with your GitHub student account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963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Student 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4963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cursor.com/students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249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Cursor IDE, verify student status, get 1 year Pro free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0266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2666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claude.ai </a:t>
            </a: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 up free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25526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code explanations and learning during labs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&amp; Learning Resources: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How to Use GitHub Copilot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GitHub Docs — official quickstart guide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53128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471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Prompt Engineering for Developers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DeepLearning.ai — free short course by Andrew 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77640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995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AI-Assisted Web Dev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freeCodeCamp — YouTube (search "AI coding 2025")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453128"/>
            <a:ext cx="40233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4471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Getting Started with Cursor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cursor.com/docs — official tutorials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Topics: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Generative vs Agentic AI?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think AI will change tech in 5 years?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ethical concerns do you have?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stand out in an AI-augmented job market?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508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6393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Thursday — Your Action Items: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04164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GitHub Student Developer Pack (education.github.com/pack)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Copilot extension in VS Code and sign 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5371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Cursor: download and verify student status at cursor.com/students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974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 things you want to improve on your personal website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&lt;code&gt;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Exercise: Prompt Battle!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9354" y="9372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groups: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"Projects" section for a portfolio website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best Generative AI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2011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best Agentic AI prompt for the same task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with AI tools, compare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3291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 and vote on best outcome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Judging: Code quality, visual appeal, responsiveness, and how well the result matches the prompt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Attribution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Development: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content developed with Claude AI for research, organization, and layout. Enhanced version restructured around the Generative vs Agentic AI framework with Lab 3 integration.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Method: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Lo, L.S. (2023). The CLEAR path: A framework for enhancing information literacy through prompt engineering. Journal of Academic Librarianship.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Job Market Data:</a:t>
            </a:r>
            <a:endParaRPr lang="en-US" sz="13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3152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Octoverse 2024</a:t>
            </a:r>
            <a:endParaRPr lang="en-US" sz="1000" dirty="0"/>
          </a:p>
        </p:txBody>
      </p:sp>
      <p:sp>
        <p:nvSpPr>
          <p:cNvPr id="9" name="Text 7">
            <a:hlinkClick r:id="rId4"/>
          </p:cNvPr>
          <p:cNvSpPr/>
          <p:nvPr/>
        </p:nvSpPr>
        <p:spPr>
          <a:xfrm>
            <a:off x="731520" y="2642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Overflow Developer Survey 2024</a:t>
            </a:r>
            <a:endParaRPr lang="en-US" sz="1000" dirty="0"/>
          </a:p>
        </p:txBody>
      </p:sp>
      <p:sp>
        <p:nvSpPr>
          <p:cNvPr id="10" name="Text 8">
            <a:hlinkClick r:id="rId5"/>
          </p:cNvPr>
          <p:cNvSpPr/>
          <p:nvPr/>
        </p:nvSpPr>
        <p:spPr>
          <a:xfrm>
            <a:off x="731520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Glassdoor — AI Engineer Salaries</a:t>
            </a:r>
            <a:endParaRPr lang="en-US" sz="1000" dirty="0"/>
          </a:p>
        </p:txBody>
      </p:sp>
      <p:sp>
        <p:nvSpPr>
          <p:cNvPr id="11" name="Text 9">
            <a:hlinkClick r:id="rId6"/>
          </p:cNvPr>
          <p:cNvSpPr/>
          <p:nvPr/>
        </p:nvSpPr>
        <p:spPr>
          <a:xfrm>
            <a:off x="731520" y="3081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ZipRecruiter — AI Developer Salaries</a:t>
            </a:r>
            <a:endParaRPr lang="en-US" sz="1000" dirty="0"/>
          </a:p>
        </p:txBody>
      </p:sp>
      <p:sp>
        <p:nvSpPr>
          <p:cNvPr id="12" name="Text 10">
            <a:hlinkClick r:id="rId7"/>
          </p:cNvPr>
          <p:cNvSpPr/>
          <p:nvPr/>
        </p:nvSpPr>
        <p:spPr>
          <a:xfrm>
            <a:off x="466344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 In NYC — AI Jobs</a:t>
            </a:r>
            <a:endParaRPr lang="en-US" sz="1000" dirty="0"/>
          </a:p>
        </p:txBody>
      </p:sp>
      <p:sp>
        <p:nvSpPr>
          <p:cNvPr id="13" name="Text 11">
            <a:hlinkClick r:id="rId8"/>
          </p:cNvPr>
          <p:cNvSpPr/>
          <p:nvPr/>
        </p:nvSpPr>
        <p:spPr>
          <a:xfrm>
            <a:off x="4663440" y="2642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 In Seattle — AI Jobs</a:t>
            </a:r>
            <a:endParaRPr lang="en-US" sz="1000" dirty="0"/>
          </a:p>
        </p:txBody>
      </p:sp>
      <p:sp>
        <p:nvSpPr>
          <p:cNvPr id="14" name="Text 12">
            <a:hlinkClick r:id="rId9"/>
          </p:cNvPr>
          <p:cNvSpPr/>
          <p:nvPr/>
        </p:nvSpPr>
        <p:spPr>
          <a:xfrm>
            <a:off x="4663440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Wellfound — AI Startup Jobs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Tool Information:</a:t>
            </a:r>
            <a:endParaRPr lang="en-US" sz="1300" dirty="0"/>
          </a:p>
        </p:txBody>
      </p:sp>
      <p:sp>
        <p:nvSpPr>
          <p:cNvPr id="16" name="Text 14">
            <a:hlinkClick r:id="rId10"/>
          </p:cNvPr>
          <p:cNvSpPr/>
          <p:nvPr/>
        </p:nvSpPr>
        <p:spPr>
          <a:xfrm>
            <a:off x="731520" y="3657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Education — Student Developer Pack</a:t>
            </a:r>
            <a:endParaRPr lang="en-US" sz="1000" dirty="0"/>
          </a:p>
        </p:txBody>
      </p:sp>
      <p:sp>
        <p:nvSpPr>
          <p:cNvPr id="17" name="Text 15">
            <a:hlinkClick r:id="rId11"/>
          </p:cNvPr>
          <p:cNvSpPr/>
          <p:nvPr/>
        </p:nvSpPr>
        <p:spPr>
          <a:xfrm>
            <a:off x="731520" y="3877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Student Program</a:t>
            </a:r>
            <a:endParaRPr lang="en-US" sz="1000" dirty="0"/>
          </a:p>
        </p:txBody>
      </p:sp>
      <p:sp>
        <p:nvSpPr>
          <p:cNvPr id="18" name="Text 16">
            <a:hlinkClick r:id="rId12"/>
          </p:cNvPr>
          <p:cNvSpPr/>
          <p:nvPr/>
        </p:nvSpPr>
        <p:spPr>
          <a:xfrm>
            <a:off x="731520" y="4096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AI — Free Tier</a:t>
            </a:r>
            <a:endParaRPr lang="en-US" sz="1000" dirty="0"/>
          </a:p>
        </p:txBody>
      </p:sp>
      <p:sp>
        <p:nvSpPr>
          <p:cNvPr id="19" name="Text 17">
            <a:hlinkClick r:id="rId13"/>
          </p:cNvPr>
          <p:cNvSpPr/>
          <p:nvPr/>
        </p:nvSpPr>
        <p:spPr>
          <a:xfrm>
            <a:off x="4663440" y="3657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 — Free Tier</a:t>
            </a:r>
            <a:endParaRPr lang="en-US" sz="1000" dirty="0"/>
          </a:p>
        </p:txBody>
      </p:sp>
      <p:sp>
        <p:nvSpPr>
          <p:cNvPr id="20" name="Text 18">
            <a:hlinkClick r:id="rId14"/>
          </p:cNvPr>
          <p:cNvSpPr/>
          <p:nvPr/>
        </p:nvSpPr>
        <p:spPr>
          <a:xfrm>
            <a:off x="4663440" y="3877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Windsurf AI IDE</a:t>
            </a:r>
            <a:endParaRPr lang="en-US" sz="1000" dirty="0"/>
          </a:p>
        </p:txBody>
      </p:sp>
      <p:sp>
        <p:nvSpPr>
          <p:cNvPr id="21" name="Text 19">
            <a:hlinkClick r:id="rId15"/>
          </p:cNvPr>
          <p:cNvSpPr/>
          <p:nvPr/>
        </p:nvSpPr>
        <p:spPr>
          <a:xfrm>
            <a:off x="4663440" y="4096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Q Developer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&amp; Learning:</a:t>
            </a:r>
            <a:endParaRPr lang="en-US" sz="1300" dirty="0"/>
          </a:p>
        </p:txBody>
      </p:sp>
      <p:sp>
        <p:nvSpPr>
          <p:cNvPr id="23" name="Text 21">
            <a:hlinkClick r:id="rId16"/>
          </p:cNvPr>
          <p:cNvSpPr/>
          <p:nvPr/>
        </p:nvSpPr>
        <p:spPr>
          <a:xfrm>
            <a:off x="73152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Quickstart Guide</a:t>
            </a:r>
            <a:endParaRPr lang="en-US" sz="1000" dirty="0"/>
          </a:p>
        </p:txBody>
      </p:sp>
      <p:sp>
        <p:nvSpPr>
          <p:cNvPr id="24" name="Text 22">
            <a:hlinkClick r:id="rId17"/>
          </p:cNvPr>
          <p:cNvSpPr/>
          <p:nvPr/>
        </p:nvSpPr>
        <p:spPr>
          <a:xfrm>
            <a:off x="731520" y="4837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 Engineering for Developers (DeepLearning.ai)</a:t>
            </a:r>
            <a:endParaRPr lang="en-US" sz="1000" dirty="0"/>
          </a:p>
        </p:txBody>
      </p:sp>
      <p:sp>
        <p:nvSpPr>
          <p:cNvPr id="25" name="Text 23">
            <a:hlinkClick r:id="rId18"/>
          </p:cNvPr>
          <p:cNvSpPr/>
          <p:nvPr/>
        </p:nvSpPr>
        <p:spPr>
          <a:xfrm>
            <a:off x="4663440" y="4617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Official Docs</a:t>
            </a:r>
            <a:endParaRPr lang="en-US" sz="1000" dirty="0"/>
          </a:p>
        </p:txBody>
      </p:sp>
      <p:sp>
        <p:nvSpPr>
          <p:cNvPr id="26" name="Text 24">
            <a:hlinkClick r:id="rId19"/>
          </p:cNvPr>
          <p:cNvSpPr/>
          <p:nvPr/>
        </p:nvSpPr>
        <p:spPr>
          <a:xfrm>
            <a:off x="4663440" y="4837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freeCodeCamp — AI-Assisted Web Dev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3733</Words>
  <Application>Microsoft Macintosh PowerPoint</Application>
  <PresentationFormat>On-screen Show (16:9)</PresentationFormat>
  <Paragraphs>594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Coding: Generative vs Agentic AI for Web Development</dc:title>
  <dc:subject>PptxGenJS Presentation</dc:subject>
  <dc:creator>Rick Plotka</dc:creator>
  <cp:lastModifiedBy>Richard Plotka</cp:lastModifiedBy>
  <cp:revision>7</cp:revision>
  <dcterms:created xsi:type="dcterms:W3CDTF">2026-02-08T01:17:41Z</dcterms:created>
  <dcterms:modified xsi:type="dcterms:W3CDTF">2026-02-08T01:53:57Z</dcterms:modified>
</cp:coreProperties>
</file>